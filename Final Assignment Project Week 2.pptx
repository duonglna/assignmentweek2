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e62688bac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e62688bac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e62688bac2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e62688bac2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e62688bac2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e62688bac2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e62688bac2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e62688bac2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e62688bac2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e62688bac2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e62688bac2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e62688bac2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e62688bac2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e62688bac2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e62688bac2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e62688bac2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e62688bac2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e62688bac2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e62688bac2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e62688bac2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e62688bac2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e62688bac2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e62688bac2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e62688bac2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en.wikipedia.org/wiki/Boroughs_of_Amsterda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Open Vietnamese Restaurant</a:t>
            </a:r>
            <a:endParaRPr/>
          </a:p>
          <a:p>
            <a:pPr indent="0" lvl="0" marL="0" rtl="0" algn="l">
              <a:spcBef>
                <a:spcPts val="0"/>
              </a:spcBef>
              <a:spcAft>
                <a:spcPts val="0"/>
              </a:spcAft>
              <a:buNone/>
            </a:pPr>
            <a:r>
              <a:rPr lang="en"/>
              <a:t>In Amsterdam</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Assignment Project Week 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Background</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Nowadays, there is a trend about Vietnamese food in some big cities in Europe. Vietnamese food has many interesting aspects: various cooking methods, various ingredients and good health. I think that ‘s why many European people love Vietnamese food. Besides that, many Vietnamese people live and develop their career in Europe so they want to find real Vietnamese food. It ‘s both a chance and a challenge. One of the European cities which many Vietnamese people live is Amsterdam - a beautiful city of Netherlands. We plan to open a Vietnamese restaurant in Amsterdam.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As I said, there is a large </a:t>
            </a:r>
            <a:r>
              <a:rPr lang="en">
                <a:highlight>
                  <a:srgbClr val="FFFFFF"/>
                </a:highlight>
              </a:rPr>
              <a:t>proportion of Vietnamese population in Amsterdam. It means there are many Vietnamese restaurants. To challenge them, there are 2 key points: choosing location and delivering good quality. Many high rating restaurants are located in the same area of Amsterdam. I want to find a location which is suitable for opening Vietnamese restaurant but it ‘s better if there are less good restaurants in that location.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t>
            </a:r>
            <a:endParaRPr/>
          </a:p>
        </p:txBody>
      </p:sp>
      <p:sp>
        <p:nvSpPr>
          <p:cNvPr id="105" name="Google Shape;105;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Boroughs in Amsterdam: </a:t>
            </a:r>
            <a:r>
              <a:rPr lang="en" u="sng">
                <a:solidFill>
                  <a:schemeClr val="hlink"/>
                </a:solidFill>
                <a:hlinkClick r:id="rId3"/>
              </a:rPr>
              <a:t>https://en.wikipedia.org/wiki/Boroughs_of_Amsterdam</a:t>
            </a:r>
            <a:endParaRPr/>
          </a:p>
          <a:p>
            <a:pPr indent="-311150" lvl="0" marL="457200" rtl="0" algn="l">
              <a:spcBef>
                <a:spcPts val="0"/>
              </a:spcBef>
              <a:spcAft>
                <a:spcPts val="0"/>
              </a:spcAft>
              <a:buSzPts val="1300"/>
              <a:buChar char="-"/>
            </a:pPr>
            <a:r>
              <a:rPr lang="en"/>
              <a:t>Latitude and Longitude values are obtained by using "geocoder"</a:t>
            </a:r>
            <a:endParaRPr/>
          </a:p>
          <a:p>
            <a:pPr indent="-311150" lvl="0" marL="457200" rtl="0" algn="l">
              <a:spcBef>
                <a:spcPts val="0"/>
              </a:spcBef>
              <a:spcAft>
                <a:spcPts val="0"/>
              </a:spcAft>
              <a:buSzPts val="1300"/>
              <a:buChar char="-"/>
            </a:pPr>
            <a:r>
              <a:rPr lang="en"/>
              <a:t>All restaurants data related to locations are obtained by using Foursquare API:</a:t>
            </a:r>
            <a:endParaRPr/>
          </a:p>
          <a:p>
            <a:pPr indent="-311150" lvl="1" marL="914400" rtl="0" algn="l">
              <a:spcBef>
                <a:spcPts val="0"/>
              </a:spcBef>
              <a:spcAft>
                <a:spcPts val="0"/>
              </a:spcAft>
              <a:buSzPts val="1300"/>
              <a:buChar char="-"/>
            </a:pPr>
            <a:r>
              <a:rPr lang="en" sz="1300"/>
              <a:t>Find areas which have many Asian restaurants that were rated from 1 - 3 stars</a:t>
            </a:r>
            <a:endParaRPr sz="1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a:t>
            </a:r>
            <a:endParaRPr/>
          </a:p>
        </p:txBody>
      </p:sp>
      <p:sp>
        <p:nvSpPr>
          <p:cNvPr id="111" name="Google Shape;111;p17"/>
          <p:cNvSpPr txBox="1"/>
          <p:nvPr>
            <p:ph idx="1" type="body"/>
          </p:nvPr>
        </p:nvSpPr>
        <p:spPr>
          <a:xfrm>
            <a:off x="729450" y="2078875"/>
            <a:ext cx="7688700" cy="2637300"/>
          </a:xfrm>
          <a:prstGeom prst="rect">
            <a:avLst/>
          </a:prstGeom>
        </p:spPr>
        <p:txBody>
          <a:bodyPr anchorCtr="0" anchor="t" bIns="91425" lIns="91425" spcFirstLastPara="1" rIns="91425" wrap="square" tIns="91425">
            <a:noAutofit/>
          </a:bodyPr>
          <a:lstStyle/>
          <a:p>
            <a:pPr indent="-311308" lvl="0" marL="457200" rtl="0" algn="l">
              <a:lnSpc>
                <a:spcPct val="95000"/>
              </a:lnSpc>
              <a:spcBef>
                <a:spcPts val="0"/>
              </a:spcBef>
              <a:spcAft>
                <a:spcPts val="0"/>
              </a:spcAft>
              <a:buSzPts val="1303"/>
              <a:buChar char="●"/>
            </a:pPr>
            <a:r>
              <a:rPr lang="en" sz="1302"/>
              <a:t>Master data which includes “Neighbourhoods”, “Latitude” and “Longitude” information of Amsterdam.</a:t>
            </a:r>
            <a:endParaRPr sz="1302"/>
          </a:p>
          <a:p>
            <a:pPr indent="-311308" lvl="0" marL="457200" rtl="0" algn="l">
              <a:lnSpc>
                <a:spcPct val="95000"/>
              </a:lnSpc>
              <a:spcBef>
                <a:spcPts val="0"/>
              </a:spcBef>
              <a:spcAft>
                <a:spcPts val="0"/>
              </a:spcAft>
              <a:buSzPts val="1303"/>
              <a:buChar char="●"/>
            </a:pPr>
            <a:r>
              <a:rPr lang="en" sz="1302"/>
              <a:t>Python Folium library was used to visualize map of </a:t>
            </a:r>
            <a:r>
              <a:rPr lang="en" sz="1302"/>
              <a:t>Amsterdam </a:t>
            </a:r>
            <a:r>
              <a:rPr lang="en" sz="1302"/>
              <a:t>and its neighbourhoods. In order to get Latitude and Longitudes of </a:t>
            </a:r>
            <a:r>
              <a:rPr lang="en" sz="1302"/>
              <a:t>Amsterdam</a:t>
            </a:r>
            <a:r>
              <a:rPr lang="en" sz="1302"/>
              <a:t>, geopy and geocoder are used. The map below was obtained.</a:t>
            </a:r>
            <a:endParaRPr sz="1302"/>
          </a:p>
          <a:p>
            <a:pPr indent="-311308" lvl="0" marL="457200" rtl="0" algn="l">
              <a:lnSpc>
                <a:spcPct val="95000"/>
              </a:lnSpc>
              <a:spcBef>
                <a:spcPts val="0"/>
              </a:spcBef>
              <a:spcAft>
                <a:spcPts val="0"/>
              </a:spcAft>
              <a:buSzPts val="1303"/>
              <a:buChar char="●"/>
            </a:pPr>
            <a:r>
              <a:rPr lang="en" sz="1302"/>
              <a:t>In order to explore places Foursquare API was used. Limit was set to 100 and Radius was set to 500.</a:t>
            </a:r>
            <a:endParaRPr sz="1302"/>
          </a:p>
          <a:p>
            <a:pPr indent="-311308" lvl="0" marL="457200" rtl="0" algn="l">
              <a:lnSpc>
                <a:spcPct val="95000"/>
              </a:lnSpc>
              <a:spcBef>
                <a:spcPts val="0"/>
              </a:spcBef>
              <a:spcAft>
                <a:spcPts val="0"/>
              </a:spcAft>
              <a:buSzPts val="1303"/>
              <a:buChar char="●"/>
            </a:pPr>
            <a:r>
              <a:rPr lang="en" sz="1302"/>
              <a:t>Using Foursquare API to explore venues in category “Asian Restaturant” then sort top 50 neighbourhoods which has most Asian Restaurants</a:t>
            </a:r>
            <a:endParaRPr sz="1302"/>
          </a:p>
          <a:p>
            <a:pPr indent="0" lvl="0" marL="0" rtl="0" algn="l">
              <a:lnSpc>
                <a:spcPct val="95000"/>
              </a:lnSpc>
              <a:spcBef>
                <a:spcPts val="1200"/>
              </a:spcBef>
              <a:spcAft>
                <a:spcPts val="1200"/>
              </a:spcAft>
              <a:buNone/>
            </a:pPr>
            <a:r>
              <a:t/>
            </a:r>
            <a:endParaRPr sz="1302"/>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1</a:t>
            </a:r>
            <a:endParaRPr/>
          </a:p>
        </p:txBody>
      </p:sp>
      <p:sp>
        <p:nvSpPr>
          <p:cNvPr id="117" name="Google Shape;117;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Use Beautiful Soup to get all of neighbourhoods in Amsterdam from Wiki: https://en.wikipedia.org/wiki/Boroughs_of_Amsterdam</a:t>
            </a:r>
            <a:endParaRPr/>
          </a:p>
        </p:txBody>
      </p:sp>
      <p:pic>
        <p:nvPicPr>
          <p:cNvPr id="118" name="Google Shape;118;p18"/>
          <p:cNvPicPr preferRelativeResize="0"/>
          <p:nvPr/>
        </p:nvPicPr>
        <p:blipFill>
          <a:blip r:embed="rId3">
            <a:alphaModFix/>
          </a:blip>
          <a:stretch>
            <a:fillRect/>
          </a:stretch>
        </p:blipFill>
        <p:spPr>
          <a:xfrm>
            <a:off x="6243375" y="1853850"/>
            <a:ext cx="2590800" cy="2990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2</a:t>
            </a:r>
            <a:endParaRPr/>
          </a:p>
        </p:txBody>
      </p:sp>
      <p:sp>
        <p:nvSpPr>
          <p:cNvPr id="124" name="Google Shape;124;p19"/>
          <p:cNvSpPr txBox="1"/>
          <p:nvPr>
            <p:ph idx="1" type="body"/>
          </p:nvPr>
        </p:nvSpPr>
        <p:spPr>
          <a:xfrm>
            <a:off x="729450" y="2078875"/>
            <a:ext cx="37128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Use Geocoder to get Lat, Long per each Neighbourhood</a:t>
            </a:r>
            <a:endParaRPr/>
          </a:p>
        </p:txBody>
      </p:sp>
      <p:pic>
        <p:nvPicPr>
          <p:cNvPr id="125" name="Google Shape;125;p19"/>
          <p:cNvPicPr preferRelativeResize="0"/>
          <p:nvPr/>
        </p:nvPicPr>
        <p:blipFill>
          <a:blip r:embed="rId3">
            <a:alphaModFix/>
          </a:blip>
          <a:stretch>
            <a:fillRect/>
          </a:stretch>
        </p:blipFill>
        <p:spPr>
          <a:xfrm>
            <a:off x="4749563" y="1691613"/>
            <a:ext cx="3933825" cy="3114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3</a:t>
            </a:r>
            <a:endParaRPr/>
          </a:p>
        </p:txBody>
      </p:sp>
      <p:sp>
        <p:nvSpPr>
          <p:cNvPr id="131" name="Google Shape;131;p20"/>
          <p:cNvSpPr txBox="1"/>
          <p:nvPr>
            <p:ph idx="1" type="body"/>
          </p:nvPr>
        </p:nvSpPr>
        <p:spPr>
          <a:xfrm>
            <a:off x="729450" y="2078875"/>
            <a:ext cx="16428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Use Foursquare API to get Venues in category “Asian Restaurant” in each Neighbourhoods</a:t>
            </a:r>
            <a:endParaRPr/>
          </a:p>
        </p:txBody>
      </p:sp>
      <p:pic>
        <p:nvPicPr>
          <p:cNvPr id="132" name="Google Shape;132;p20"/>
          <p:cNvPicPr preferRelativeResize="0"/>
          <p:nvPr/>
        </p:nvPicPr>
        <p:blipFill>
          <a:blip r:embed="rId3">
            <a:alphaModFix/>
          </a:blip>
          <a:stretch>
            <a:fillRect/>
          </a:stretch>
        </p:blipFill>
        <p:spPr>
          <a:xfrm>
            <a:off x="2372176" y="1522925"/>
            <a:ext cx="6659749" cy="3177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4</a:t>
            </a:r>
            <a:endParaRPr/>
          </a:p>
        </p:txBody>
      </p:sp>
      <p:sp>
        <p:nvSpPr>
          <p:cNvPr id="138" name="Google Shape;138;p21"/>
          <p:cNvSpPr txBox="1"/>
          <p:nvPr>
            <p:ph idx="1" type="body"/>
          </p:nvPr>
        </p:nvSpPr>
        <p:spPr>
          <a:xfrm>
            <a:off x="729450" y="2078875"/>
            <a:ext cx="43092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Sort by No of Venues then get top 50</a:t>
            </a:r>
            <a:endParaRPr/>
          </a:p>
        </p:txBody>
      </p:sp>
      <p:pic>
        <p:nvPicPr>
          <p:cNvPr id="139" name="Google Shape;139;p21"/>
          <p:cNvPicPr preferRelativeResize="0"/>
          <p:nvPr/>
        </p:nvPicPr>
        <p:blipFill>
          <a:blip r:embed="rId3">
            <a:alphaModFix/>
          </a:blip>
          <a:stretch>
            <a:fillRect/>
          </a:stretch>
        </p:blipFill>
        <p:spPr>
          <a:xfrm>
            <a:off x="5646998" y="506750"/>
            <a:ext cx="3224699" cy="44835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5</a:t>
            </a:r>
            <a:endParaRPr/>
          </a:p>
        </p:txBody>
      </p:sp>
      <p:sp>
        <p:nvSpPr>
          <p:cNvPr id="145" name="Google Shape;145;p22"/>
          <p:cNvSpPr txBox="1"/>
          <p:nvPr>
            <p:ph idx="1" type="body"/>
          </p:nvPr>
        </p:nvSpPr>
        <p:spPr>
          <a:xfrm>
            <a:off x="729450" y="2078875"/>
            <a:ext cx="43092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Sort by No of Venues then get top 50</a:t>
            </a:r>
            <a:endParaRPr/>
          </a:p>
        </p:txBody>
      </p:sp>
      <p:pic>
        <p:nvPicPr>
          <p:cNvPr id="146" name="Google Shape;146;p22"/>
          <p:cNvPicPr preferRelativeResize="0"/>
          <p:nvPr/>
        </p:nvPicPr>
        <p:blipFill>
          <a:blip r:embed="rId3">
            <a:alphaModFix/>
          </a:blip>
          <a:stretch>
            <a:fillRect/>
          </a:stretch>
        </p:blipFill>
        <p:spPr>
          <a:xfrm>
            <a:off x="5646998" y="506750"/>
            <a:ext cx="3224699" cy="44835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6</a:t>
            </a:r>
            <a:endParaRPr/>
          </a:p>
        </p:txBody>
      </p:sp>
      <p:sp>
        <p:nvSpPr>
          <p:cNvPr id="152" name="Google Shape;152;p23"/>
          <p:cNvSpPr txBox="1"/>
          <p:nvPr>
            <p:ph idx="1" type="body"/>
          </p:nvPr>
        </p:nvSpPr>
        <p:spPr>
          <a:xfrm>
            <a:off x="729450" y="2078875"/>
            <a:ext cx="7783800" cy="28146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770"/>
              <a:buNone/>
            </a:pPr>
            <a:r>
              <a:rPr lang="en" sz="1310"/>
              <a:t>There are common venues in neighbourhoods, so unsupervised K-means algorithm was used to cluster districts. K-Means cluster was set to 5 clusters, to reach optimum accuracy.</a:t>
            </a:r>
            <a:endParaRPr sz="1310"/>
          </a:p>
          <a:p>
            <a:pPr indent="-311785" lvl="0" marL="457200" rtl="0" algn="l">
              <a:lnSpc>
                <a:spcPct val="105000"/>
              </a:lnSpc>
              <a:spcBef>
                <a:spcPts val="1200"/>
              </a:spcBef>
              <a:spcAft>
                <a:spcPts val="0"/>
              </a:spcAft>
              <a:buSzPts val="1310"/>
              <a:buChar char="●"/>
            </a:pPr>
            <a:r>
              <a:rPr lang="en" sz="1310"/>
              <a:t>Cluster 0:  &lt; 6 venues</a:t>
            </a:r>
            <a:endParaRPr sz="1310"/>
          </a:p>
          <a:p>
            <a:pPr indent="-311785" lvl="0" marL="457200" rtl="0" algn="l">
              <a:lnSpc>
                <a:spcPct val="105000"/>
              </a:lnSpc>
              <a:spcBef>
                <a:spcPts val="0"/>
              </a:spcBef>
              <a:spcAft>
                <a:spcPts val="0"/>
              </a:spcAft>
              <a:buSzPts val="1310"/>
              <a:buChar char="●"/>
            </a:pPr>
            <a:r>
              <a:rPr lang="en" sz="1310"/>
              <a:t>Cluster 1: &gt; 41 venues</a:t>
            </a:r>
            <a:endParaRPr sz="1310"/>
          </a:p>
          <a:p>
            <a:pPr indent="-311785" lvl="0" marL="457200" rtl="0" algn="l">
              <a:lnSpc>
                <a:spcPct val="105000"/>
              </a:lnSpc>
              <a:spcBef>
                <a:spcPts val="0"/>
              </a:spcBef>
              <a:spcAft>
                <a:spcPts val="0"/>
              </a:spcAft>
              <a:buSzPts val="1310"/>
              <a:buChar char="●"/>
            </a:pPr>
            <a:r>
              <a:rPr lang="en" sz="1310"/>
              <a:t>Cluster 2: 14 - 18 venues</a:t>
            </a:r>
            <a:endParaRPr sz="1310"/>
          </a:p>
          <a:p>
            <a:pPr indent="-311785" lvl="0" marL="457200" rtl="0" algn="l">
              <a:lnSpc>
                <a:spcPct val="105000"/>
              </a:lnSpc>
              <a:spcBef>
                <a:spcPts val="0"/>
              </a:spcBef>
              <a:spcAft>
                <a:spcPts val="0"/>
              </a:spcAft>
              <a:buSzPts val="1310"/>
              <a:buChar char="●"/>
            </a:pPr>
            <a:r>
              <a:rPr lang="en" sz="1310"/>
              <a:t>Cluster 3: 6 - 11 venues</a:t>
            </a:r>
            <a:endParaRPr sz="1310"/>
          </a:p>
          <a:p>
            <a:pPr indent="-311785" lvl="0" marL="457200" rtl="0" algn="l">
              <a:lnSpc>
                <a:spcPct val="105000"/>
              </a:lnSpc>
              <a:spcBef>
                <a:spcPts val="0"/>
              </a:spcBef>
              <a:spcAft>
                <a:spcPts val="0"/>
              </a:spcAft>
              <a:buSzPts val="1310"/>
              <a:buChar char="●"/>
            </a:pPr>
            <a:r>
              <a:rPr lang="en" sz="1310"/>
              <a:t>Cluster 4: 24 - 27 venues</a:t>
            </a:r>
            <a:endParaRPr sz="1310"/>
          </a:p>
          <a:p>
            <a:pPr indent="0" lvl="0" marL="0" rtl="0" algn="l">
              <a:lnSpc>
                <a:spcPct val="105000"/>
              </a:lnSpc>
              <a:spcBef>
                <a:spcPts val="1200"/>
              </a:spcBef>
              <a:spcAft>
                <a:spcPts val="1200"/>
              </a:spcAft>
              <a:buSzPts val="770"/>
              <a:buNone/>
            </a:pPr>
            <a:r>
              <a:t/>
            </a:r>
            <a:endParaRPr sz="131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158" name="Google Shape;158;p24"/>
          <p:cNvSpPr txBox="1"/>
          <p:nvPr>
            <p:ph idx="1" type="body"/>
          </p:nvPr>
        </p:nvSpPr>
        <p:spPr>
          <a:xfrm>
            <a:off x="729450" y="2078875"/>
            <a:ext cx="7783800" cy="28146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770"/>
              <a:buNone/>
            </a:pPr>
            <a:r>
              <a:rPr lang="en" sz="1310"/>
              <a:t>We decide to choose Neighbourhoods in Cluster 3:</a:t>
            </a:r>
            <a:endParaRPr sz="1310"/>
          </a:p>
          <a:p>
            <a:pPr indent="-311785" lvl="0" marL="457200" rtl="0" algn="l">
              <a:lnSpc>
                <a:spcPct val="105000"/>
              </a:lnSpc>
              <a:spcBef>
                <a:spcPts val="1200"/>
              </a:spcBef>
              <a:spcAft>
                <a:spcPts val="0"/>
              </a:spcAft>
              <a:buSzPts val="1310"/>
              <a:buChar char="-"/>
            </a:pPr>
            <a:r>
              <a:rPr lang="en" sz="1310"/>
              <a:t>There are about &gt;5 venues so customers are quite familiar to Asian foods</a:t>
            </a:r>
            <a:endParaRPr sz="1310"/>
          </a:p>
          <a:p>
            <a:pPr indent="-311785" lvl="0" marL="457200" rtl="0" algn="l">
              <a:lnSpc>
                <a:spcPct val="105000"/>
              </a:lnSpc>
              <a:spcBef>
                <a:spcPts val="0"/>
              </a:spcBef>
              <a:spcAft>
                <a:spcPts val="0"/>
              </a:spcAft>
              <a:buSzPts val="1310"/>
              <a:buChar char="-"/>
            </a:pPr>
            <a:r>
              <a:rPr lang="en" sz="1310"/>
              <a:t>There are the second in total neighbourhoods of each Cluster</a:t>
            </a:r>
            <a:endParaRPr sz="131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25"/>
          <p:cNvPicPr preferRelativeResize="0"/>
          <p:nvPr/>
        </p:nvPicPr>
        <p:blipFill>
          <a:blip r:embed="rId3">
            <a:alphaModFix/>
          </a:blip>
          <a:stretch>
            <a:fillRect/>
          </a:stretch>
        </p:blipFill>
        <p:spPr>
          <a:xfrm>
            <a:off x="814275" y="1427875"/>
            <a:ext cx="7628349" cy="33953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